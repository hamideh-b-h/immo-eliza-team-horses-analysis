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76" r:id="rId4"/>
    <p:sldId id="268" r:id="rId5"/>
    <p:sldId id="263" r:id="rId6"/>
    <p:sldId id="272" r:id="rId7"/>
    <p:sldId id="274" r:id="rId8"/>
    <p:sldId id="269" r:id="rId9"/>
    <p:sldId id="267" r:id="rId10"/>
    <p:sldId id="270" r:id="rId11"/>
    <p:sldId id="271" r:id="rId12"/>
    <p:sldId id="261" r:id="rId13"/>
    <p:sldId id="262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Georgia Pro Light" panose="02040302050405020303" pitchFamily="18" charset="0"/>
      <p:regular r:id="rId20"/>
      <p:italic r:id="rId21"/>
    </p:embeddedFont>
    <p:embeddedFont>
      <p:font typeface="League Spartan" panose="020B0604020202020204" charset="0"/>
      <p:regular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Bold" panose="02000000000000000000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B0DAC-E677-E71C-A157-9C3D34E83717}" v="9" dt="2025-11-18T11:18:55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customXml" Target="../customXml/item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microsoft.com/office/2015/10/relationships/revisionInfo" Target="revisionInfo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inkedin.com/in/sandrineherbel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3" name="TextBox 3"/>
          <p:cNvSpPr txBox="1"/>
          <p:nvPr/>
        </p:nvSpPr>
        <p:spPr>
          <a:xfrm>
            <a:off x="4220957" y="4506120"/>
            <a:ext cx="9846085" cy="2921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  <a:p>
            <a:pPr algn="ctr">
              <a:lnSpc>
                <a:spcPts val="11572"/>
              </a:lnSpc>
            </a:pPr>
            <a:r>
              <a:rPr lang="en-US" sz="8265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PART II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nl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372711" y="3528848"/>
            <a:ext cx="7590093" cy="9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5303" b="1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IMMO ELIZA PROJECT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nl-B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EEEC-4BC5-EE2C-D9A8-D6D607D9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412365-0E98-2BB1-019B-974930C86C0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62E4392-F35C-556F-47A8-2648CE067E2C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CONTINUED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C07C0DA-FFBF-D136-A033-2DC08ABFB94C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6" name="Afbeelding 5" descr="Afbeelding met tekst, diagram, lijn&#10;&#10;Door AI gegenereerde inhoud is mogelijk onjuist.">
            <a:extLst>
              <a:ext uri="{FF2B5EF4-FFF2-40B4-BE49-F238E27FC236}">
                <a16:creationId xmlns:a16="http://schemas.microsoft.com/office/drawing/2014/main" id="{99E03D5C-764B-4906-AECD-24E319E05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856" y="3592179"/>
            <a:ext cx="11889909" cy="49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1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16B3-DE0B-2D3D-B4E1-4F6D2A77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E6120D-54C1-CAE9-7C0D-A5E377778E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006B814-AC9A-20C6-4A2C-B14AC1A8585A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CONTINUED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022917A-2E9D-1097-799B-0407FDD34914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992CAD4-7BC8-5C17-3E18-04E54C5A88FA}"/>
              </a:ext>
            </a:extLst>
          </p:cNvPr>
          <p:cNvGrpSpPr/>
          <p:nvPr/>
        </p:nvGrpSpPr>
        <p:grpSpPr>
          <a:xfrm>
            <a:off x="515824" y="3121241"/>
            <a:ext cx="17203428" cy="6887486"/>
            <a:chOff x="301079" y="735951"/>
            <a:chExt cx="11894131" cy="4761879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37A5A8E9-FD22-953C-E712-32BBA9C5439C}"/>
                </a:ext>
              </a:extLst>
            </p:cNvPr>
            <p:cNvGrpSpPr/>
            <p:nvPr/>
          </p:nvGrpSpPr>
          <p:grpSpPr>
            <a:xfrm>
              <a:off x="301079" y="1629068"/>
              <a:ext cx="1959000" cy="2832610"/>
              <a:chOff x="301079" y="1599336"/>
              <a:chExt cx="1959000" cy="2832610"/>
            </a:xfrm>
          </p:grpSpPr>
          <p:sp>
            <p:nvSpPr>
              <p:cNvPr id="29" name="Arrow: Right 26">
                <a:extLst>
                  <a:ext uri="{FF2B5EF4-FFF2-40B4-BE49-F238E27FC236}">
                    <a16:creationId xmlns:a16="http://schemas.microsoft.com/office/drawing/2014/main" id="{06234DB1-A43F-E6E7-CDC6-8663AA6AD685}"/>
                  </a:ext>
                </a:extLst>
              </p:cNvPr>
              <p:cNvSpPr/>
              <p:nvPr/>
            </p:nvSpPr>
            <p:spPr>
              <a:xfrm>
                <a:off x="455031" y="2995043"/>
                <a:ext cx="1805048" cy="502920"/>
              </a:xfrm>
              <a:prstGeom prst="right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700" dirty="0"/>
              </a:p>
            </p:txBody>
          </p:sp>
          <p:sp>
            <p:nvSpPr>
              <p:cNvPr id="30" name="Arrow: Right 27">
                <a:extLst>
                  <a:ext uri="{FF2B5EF4-FFF2-40B4-BE49-F238E27FC236}">
                    <a16:creationId xmlns:a16="http://schemas.microsoft.com/office/drawing/2014/main" id="{3DCA302A-ADB6-5CE9-19D3-5280C54D2FAA}"/>
                  </a:ext>
                </a:extLst>
              </p:cNvPr>
              <p:cNvSpPr/>
              <p:nvPr/>
            </p:nvSpPr>
            <p:spPr>
              <a:xfrm>
                <a:off x="455031" y="3929026"/>
                <a:ext cx="1426772" cy="502920"/>
              </a:xfrm>
              <a:prstGeom prst="right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700" dirty="0"/>
              </a:p>
            </p:txBody>
          </p:sp>
          <p:grpSp>
            <p:nvGrpSpPr>
              <p:cNvPr id="31" name="Group 28">
                <a:extLst>
                  <a:ext uri="{FF2B5EF4-FFF2-40B4-BE49-F238E27FC236}">
                    <a16:creationId xmlns:a16="http://schemas.microsoft.com/office/drawing/2014/main" id="{44862500-B3FE-FDE5-6F69-2C8A3F3647F3}"/>
                  </a:ext>
                </a:extLst>
              </p:cNvPr>
              <p:cNvGrpSpPr/>
              <p:nvPr/>
            </p:nvGrpSpPr>
            <p:grpSpPr>
              <a:xfrm>
                <a:off x="440478" y="1599336"/>
                <a:ext cx="1801822" cy="833255"/>
                <a:chOff x="440478" y="1599336"/>
                <a:chExt cx="1801822" cy="833255"/>
              </a:xfrm>
            </p:grpSpPr>
            <p:sp>
              <p:nvSpPr>
                <p:cNvPr id="34" name="Arrow: Right 31">
                  <a:extLst>
                    <a:ext uri="{FF2B5EF4-FFF2-40B4-BE49-F238E27FC236}">
                      <a16:creationId xmlns:a16="http://schemas.microsoft.com/office/drawing/2014/main" id="{104699E3-7D46-2660-9112-DC20E1B460C4}"/>
                    </a:ext>
                  </a:extLst>
                </p:cNvPr>
                <p:cNvSpPr/>
                <p:nvPr/>
              </p:nvSpPr>
              <p:spPr>
                <a:xfrm>
                  <a:off x="455031" y="1929671"/>
                  <a:ext cx="1426772" cy="502920"/>
                </a:xfrm>
                <a:prstGeom prst="rightArrow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sz="2700" dirty="0"/>
                </a:p>
              </p:txBody>
            </p:sp>
            <p:sp>
              <p:nvSpPr>
                <p:cNvPr id="35" name="TextBox 32">
                  <a:extLst>
                    <a:ext uri="{FF2B5EF4-FFF2-40B4-BE49-F238E27FC236}">
                      <a16:creationId xmlns:a16="http://schemas.microsoft.com/office/drawing/2014/main" id="{8FD04C20-AC79-0029-2E9E-2B9E96AC9472}"/>
                    </a:ext>
                  </a:extLst>
                </p:cNvPr>
                <p:cNvSpPr txBox="1"/>
                <p:nvPr/>
              </p:nvSpPr>
              <p:spPr>
                <a:xfrm>
                  <a:off x="440478" y="1599336"/>
                  <a:ext cx="1801822" cy="2872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2100" b="1" dirty="0"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32" name="TextBox 29">
                <a:extLst>
                  <a:ext uri="{FF2B5EF4-FFF2-40B4-BE49-F238E27FC236}">
                    <a16:creationId xmlns:a16="http://schemas.microsoft.com/office/drawing/2014/main" id="{58C8C271-C15E-7F41-265A-ED13D7BFB11C}"/>
                  </a:ext>
                </a:extLst>
              </p:cNvPr>
              <p:cNvSpPr txBox="1"/>
              <p:nvPr/>
            </p:nvSpPr>
            <p:spPr>
              <a:xfrm>
                <a:off x="301079" y="2352103"/>
                <a:ext cx="1801822" cy="957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100" b="1" dirty="0">
                    <a:latin typeface="Georgia" panose="02040502050405020303" pitchFamily="18" charset="0"/>
                  </a:rPr>
                  <a:t>4 quantitative,</a:t>
                </a:r>
              </a:p>
              <a:p>
                <a:pPr algn="ctr"/>
                <a:r>
                  <a:rPr lang="en-GB" sz="2100" b="1" dirty="0">
                    <a:latin typeface="Georgia" panose="02040502050405020303" pitchFamily="18" charset="0"/>
                  </a:rPr>
                  <a:t>8 qualitative variables</a:t>
                </a:r>
              </a:p>
              <a:p>
                <a:pPr algn="ctr"/>
                <a:endParaRPr lang="en-US" sz="2100" b="1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33" name="TextBox 30">
                <a:extLst>
                  <a:ext uri="{FF2B5EF4-FFF2-40B4-BE49-F238E27FC236}">
                    <a16:creationId xmlns:a16="http://schemas.microsoft.com/office/drawing/2014/main" id="{C73E190B-7312-2AE0-B749-10D7B213F655}"/>
                  </a:ext>
                </a:extLst>
              </p:cNvPr>
              <p:cNvSpPr txBox="1"/>
              <p:nvPr/>
            </p:nvSpPr>
            <p:spPr>
              <a:xfrm>
                <a:off x="354330" y="3559606"/>
                <a:ext cx="1801822" cy="287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100" b="1" dirty="0">
                  <a:latin typeface="Georgia" panose="02040502050405020303" pitchFamily="18" charset="0"/>
                </a:endParaRPr>
              </a:p>
            </p:txBody>
          </p:sp>
        </p:grpSp>
        <p:cxnSp>
          <p:nvCxnSpPr>
            <p:cNvPr id="8" name="Connector: Elbow 5">
              <a:extLst>
                <a:ext uri="{FF2B5EF4-FFF2-40B4-BE49-F238E27FC236}">
                  <a16:creationId xmlns:a16="http://schemas.microsoft.com/office/drawing/2014/main" id="{C62CDF24-FADC-99F5-DF51-3FBCFD9EA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268" y="2271502"/>
              <a:ext cx="730900" cy="708367"/>
            </a:xfrm>
            <a:prstGeom prst="bentConnector3">
              <a:avLst>
                <a:gd name="adj1" fmla="val -43"/>
              </a:avLst>
            </a:prstGeom>
            <a:ln w="25400"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rrow: Right 6">
              <a:extLst>
                <a:ext uri="{FF2B5EF4-FFF2-40B4-BE49-F238E27FC236}">
                  <a16:creationId xmlns:a16="http://schemas.microsoft.com/office/drawing/2014/main" id="{ABDD43F6-5EA8-1463-7845-4427624B73DA}"/>
                </a:ext>
              </a:extLst>
            </p:cNvPr>
            <p:cNvSpPr/>
            <p:nvPr/>
          </p:nvSpPr>
          <p:spPr>
            <a:xfrm>
              <a:off x="10195560" y="3177540"/>
              <a:ext cx="582930" cy="50292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F072E327-49F8-0B0C-6A49-90A9F7A9E5E1}"/>
                </a:ext>
              </a:extLst>
            </p:cNvPr>
            <p:cNvSpPr/>
            <p:nvPr/>
          </p:nvSpPr>
          <p:spPr>
            <a:xfrm>
              <a:off x="2377440" y="1360170"/>
              <a:ext cx="228539" cy="413766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2B757A42-F544-807B-549E-5D94B96455BC}"/>
                </a:ext>
              </a:extLst>
            </p:cNvPr>
            <p:cNvSpPr/>
            <p:nvPr/>
          </p:nvSpPr>
          <p:spPr>
            <a:xfrm>
              <a:off x="3402950" y="3019382"/>
              <a:ext cx="825356" cy="8192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5AF8CE3B-FC4D-E91E-AF94-55C346ECD80D}"/>
                </a:ext>
              </a:extLst>
            </p:cNvPr>
            <p:cNvSpPr/>
            <p:nvPr/>
          </p:nvSpPr>
          <p:spPr>
            <a:xfrm>
              <a:off x="5923663" y="3019382"/>
              <a:ext cx="825356" cy="8192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37340CFF-4C09-8DB5-7409-CB0F65195489}"/>
                </a:ext>
              </a:extLst>
            </p:cNvPr>
            <p:cNvSpPr/>
            <p:nvPr/>
          </p:nvSpPr>
          <p:spPr>
            <a:xfrm>
              <a:off x="8444374" y="3019382"/>
              <a:ext cx="825356" cy="8192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1F52C454-308A-7916-D881-BC667D5A11B2}"/>
                </a:ext>
              </a:extLst>
            </p:cNvPr>
            <p:cNvSpPr/>
            <p:nvPr/>
          </p:nvSpPr>
          <p:spPr>
            <a:xfrm flipH="1">
              <a:off x="2636832" y="1360170"/>
              <a:ext cx="2416293" cy="4137660"/>
            </a:xfrm>
            <a:custGeom>
              <a:avLst/>
              <a:gdLst>
                <a:gd name="connsiteX0" fmla="*/ 2416293 w 2416293"/>
                <a:gd name="connsiteY0" fmla="*/ 0 h 4137660"/>
                <a:gd name="connsiteX1" fmla="*/ 1968957 w 2416293"/>
                <a:gd name="connsiteY1" fmla="*/ 193973 h 4137660"/>
                <a:gd name="connsiteX2" fmla="*/ 292338 w 2416293"/>
                <a:gd name="connsiteY2" fmla="*/ 809784 h 4137660"/>
                <a:gd name="connsiteX3" fmla="*/ 0 w 2416293"/>
                <a:gd name="connsiteY3" fmla="*/ 897599 h 4137660"/>
                <a:gd name="connsiteX4" fmla="*/ 0 w 2416293"/>
                <a:gd name="connsiteY4" fmla="*/ 3233013 h 4137660"/>
                <a:gd name="connsiteX5" fmla="*/ 218678 w 2416293"/>
                <a:gd name="connsiteY5" fmla="*/ 3296516 h 4137660"/>
                <a:gd name="connsiteX6" fmla="*/ 2024268 w 2416293"/>
                <a:gd name="connsiteY6" fmla="*/ 3961654 h 4137660"/>
                <a:gd name="connsiteX7" fmla="*/ 2416293 w 2416293"/>
                <a:gd name="connsiteY7" fmla="*/ 4137660 h 4137660"/>
                <a:gd name="connsiteX8" fmla="*/ 2416293 w 2416293"/>
                <a:gd name="connsiteY8" fmla="*/ 0 h 413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6293" h="4137660">
                  <a:moveTo>
                    <a:pt x="2416293" y="0"/>
                  </a:moveTo>
                  <a:lnTo>
                    <a:pt x="1968957" y="193973"/>
                  </a:lnTo>
                  <a:cubicBezTo>
                    <a:pt x="1395641" y="434280"/>
                    <a:pt x="839229" y="638182"/>
                    <a:pt x="292338" y="809784"/>
                  </a:cubicBezTo>
                  <a:lnTo>
                    <a:pt x="0" y="897599"/>
                  </a:lnTo>
                  <a:lnTo>
                    <a:pt x="0" y="3233013"/>
                  </a:lnTo>
                  <a:lnTo>
                    <a:pt x="218678" y="3296516"/>
                  </a:lnTo>
                  <a:cubicBezTo>
                    <a:pt x="847064" y="3487248"/>
                    <a:pt x="1445128" y="3710005"/>
                    <a:pt x="2024268" y="3961654"/>
                  </a:cubicBezTo>
                  <a:lnTo>
                    <a:pt x="2416293" y="4137660"/>
                  </a:lnTo>
                  <a:lnTo>
                    <a:pt x="241629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700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52FC55DB-3F94-B0B3-44D2-CA132A0918B2}"/>
                </a:ext>
              </a:extLst>
            </p:cNvPr>
            <p:cNvSpPr/>
            <p:nvPr/>
          </p:nvSpPr>
          <p:spPr>
            <a:xfrm flipH="1">
              <a:off x="5098843" y="2271502"/>
              <a:ext cx="2474994" cy="2308404"/>
            </a:xfrm>
            <a:custGeom>
              <a:avLst/>
              <a:gdLst>
                <a:gd name="connsiteX0" fmla="*/ 2474994 w 2474994"/>
                <a:gd name="connsiteY0" fmla="*/ 0 h 2308404"/>
                <a:gd name="connsiteX1" fmla="*/ 2404554 w 2474994"/>
                <a:gd name="connsiteY1" fmla="*/ 21160 h 2308404"/>
                <a:gd name="connsiteX2" fmla="*/ 391407 w 2474994"/>
                <a:gd name="connsiteY2" fmla="*/ 466481 h 2308404"/>
                <a:gd name="connsiteX3" fmla="*/ 0 w 2474994"/>
                <a:gd name="connsiteY3" fmla="*/ 523117 h 2308404"/>
                <a:gd name="connsiteX4" fmla="*/ 0 w 2474994"/>
                <a:gd name="connsiteY4" fmla="*/ 1796393 h 2308404"/>
                <a:gd name="connsiteX5" fmla="*/ 326522 w 2474994"/>
                <a:gd name="connsiteY5" fmla="*/ 1842308 h 2308404"/>
                <a:gd name="connsiteX6" fmla="*/ 2358630 w 2474994"/>
                <a:gd name="connsiteY6" fmla="*/ 2274612 h 2308404"/>
                <a:gd name="connsiteX7" fmla="*/ 2474994 w 2474994"/>
                <a:gd name="connsiteY7" fmla="*/ 2308404 h 2308404"/>
                <a:gd name="connsiteX8" fmla="*/ 2474994 w 2474994"/>
                <a:gd name="connsiteY8" fmla="*/ 0 h 230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74994" h="2308404">
                  <a:moveTo>
                    <a:pt x="2474994" y="0"/>
                  </a:moveTo>
                  <a:lnTo>
                    <a:pt x="2404554" y="21160"/>
                  </a:lnTo>
                  <a:cubicBezTo>
                    <a:pt x="1726315" y="215795"/>
                    <a:pt x="1060072" y="361563"/>
                    <a:pt x="391407" y="466481"/>
                  </a:cubicBezTo>
                  <a:lnTo>
                    <a:pt x="0" y="523117"/>
                  </a:lnTo>
                  <a:lnTo>
                    <a:pt x="0" y="1796393"/>
                  </a:lnTo>
                  <a:lnTo>
                    <a:pt x="326522" y="1842308"/>
                  </a:lnTo>
                  <a:cubicBezTo>
                    <a:pt x="1044091" y="1951670"/>
                    <a:pt x="1717661" y="2096816"/>
                    <a:pt x="2358630" y="2274612"/>
                  </a:cubicBezTo>
                  <a:lnTo>
                    <a:pt x="2474994" y="2308404"/>
                  </a:lnTo>
                  <a:lnTo>
                    <a:pt x="24749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700" dirty="0"/>
            </a:p>
          </p:txBody>
        </p: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9C6724F2-889C-E75E-EAEB-51BDA8CECACA}"/>
                </a:ext>
              </a:extLst>
            </p:cNvPr>
            <p:cNvSpPr/>
            <p:nvPr/>
          </p:nvSpPr>
          <p:spPr>
            <a:xfrm flipH="1">
              <a:off x="7619557" y="2800388"/>
              <a:ext cx="2416291" cy="1261078"/>
            </a:xfrm>
            <a:custGeom>
              <a:avLst/>
              <a:gdLst>
                <a:gd name="connsiteX0" fmla="*/ 2416291 w 2416291"/>
                <a:gd name="connsiteY0" fmla="*/ 0 h 1261078"/>
                <a:gd name="connsiteX1" fmla="*/ 2048934 w 2416291"/>
                <a:gd name="connsiteY1" fmla="*/ 44401 h 1261078"/>
                <a:gd name="connsiteX2" fmla="*/ 410852 w 2416291"/>
                <a:gd name="connsiteY2" fmla="*/ 152676 h 1261078"/>
                <a:gd name="connsiteX3" fmla="*/ 0 w 2416291"/>
                <a:gd name="connsiteY3" fmla="*/ 159652 h 1261078"/>
                <a:gd name="connsiteX4" fmla="*/ 0 w 2416291"/>
                <a:gd name="connsiteY4" fmla="*/ 1080190 h 1261078"/>
                <a:gd name="connsiteX5" fmla="*/ 492434 w 2416291"/>
                <a:gd name="connsiteY5" fmla="*/ 1095821 h 1261078"/>
                <a:gd name="connsiteX6" fmla="*/ 2352620 w 2416291"/>
                <a:gd name="connsiteY6" fmla="*/ 1252124 h 1261078"/>
                <a:gd name="connsiteX7" fmla="*/ 2416291 w 2416291"/>
                <a:gd name="connsiteY7" fmla="*/ 1261078 h 1261078"/>
                <a:gd name="connsiteX8" fmla="*/ 2416291 w 2416291"/>
                <a:gd name="connsiteY8" fmla="*/ 0 h 1261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6291" h="1261078">
                  <a:moveTo>
                    <a:pt x="2416291" y="0"/>
                  </a:moveTo>
                  <a:lnTo>
                    <a:pt x="2048934" y="44401"/>
                  </a:lnTo>
                  <a:cubicBezTo>
                    <a:pt x="1510608" y="103217"/>
                    <a:pt x="967040" y="137940"/>
                    <a:pt x="410852" y="152676"/>
                  </a:cubicBezTo>
                  <a:lnTo>
                    <a:pt x="0" y="159652"/>
                  </a:lnTo>
                  <a:lnTo>
                    <a:pt x="0" y="1080190"/>
                  </a:lnTo>
                  <a:lnTo>
                    <a:pt x="492434" y="1095821"/>
                  </a:lnTo>
                  <a:cubicBezTo>
                    <a:pt x="1146004" y="1123550"/>
                    <a:pt x="1764121" y="1176186"/>
                    <a:pt x="2352620" y="1252124"/>
                  </a:cubicBezTo>
                  <a:lnTo>
                    <a:pt x="2416291" y="1261078"/>
                  </a:lnTo>
                  <a:lnTo>
                    <a:pt x="24162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700" dirty="0"/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C443B139-F3A6-FB80-66BC-5C109AEC42F1}"/>
                </a:ext>
              </a:extLst>
            </p:cNvPr>
            <p:cNvSpPr/>
            <p:nvPr/>
          </p:nvSpPr>
          <p:spPr>
            <a:xfrm>
              <a:off x="3432300" y="3019382"/>
              <a:ext cx="825356" cy="8192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9D9BBAAB-E141-F8D8-3432-0E82C4C5A029}"/>
                </a:ext>
              </a:extLst>
            </p:cNvPr>
            <p:cNvSpPr/>
            <p:nvPr/>
          </p:nvSpPr>
          <p:spPr>
            <a:xfrm>
              <a:off x="5923662" y="3016086"/>
              <a:ext cx="825356" cy="8192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86A6AF8B-A7BD-7E62-315D-65C002211CC7}"/>
                </a:ext>
              </a:extLst>
            </p:cNvPr>
            <p:cNvSpPr/>
            <p:nvPr/>
          </p:nvSpPr>
          <p:spPr>
            <a:xfrm>
              <a:off x="8415024" y="3021309"/>
              <a:ext cx="825356" cy="8192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cxnSp>
          <p:nvCxnSpPr>
            <p:cNvPr id="20" name="Connector: Elbow 17">
              <a:extLst>
                <a:ext uri="{FF2B5EF4-FFF2-40B4-BE49-F238E27FC236}">
                  <a16:creationId xmlns:a16="http://schemas.microsoft.com/office/drawing/2014/main" id="{0FCA3A9C-FB9F-3A6C-FAB8-6AE1E433CA2A}"/>
                </a:ext>
              </a:extLst>
            </p:cNvPr>
            <p:cNvCxnSpPr/>
            <p:nvPr/>
          </p:nvCxnSpPr>
          <p:spPr>
            <a:xfrm flipV="1">
              <a:off x="3760470" y="1040130"/>
              <a:ext cx="1211580" cy="777240"/>
            </a:xfrm>
            <a:prstGeom prst="bentConnector3">
              <a:avLst>
                <a:gd name="adj1" fmla="val 0"/>
              </a:avLst>
            </a:prstGeom>
            <a:ln w="25400"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18">
              <a:extLst>
                <a:ext uri="{FF2B5EF4-FFF2-40B4-BE49-F238E27FC236}">
                  <a16:creationId xmlns:a16="http://schemas.microsoft.com/office/drawing/2014/main" id="{06C9183E-F194-66A2-0512-52C06D5922E3}"/>
                </a:ext>
              </a:extLst>
            </p:cNvPr>
            <p:cNvCxnSpPr>
              <a:cxnSpLocks/>
            </p:cNvCxnSpPr>
            <p:nvPr/>
          </p:nvCxnSpPr>
          <p:spPr>
            <a:xfrm>
              <a:off x="6336340" y="4289287"/>
              <a:ext cx="730900" cy="708367"/>
            </a:xfrm>
            <a:prstGeom prst="bentConnector3">
              <a:avLst>
                <a:gd name="adj1" fmla="val -43"/>
              </a:avLst>
            </a:prstGeom>
            <a:ln w="25400"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19">
              <a:extLst>
                <a:ext uri="{FF2B5EF4-FFF2-40B4-BE49-F238E27FC236}">
                  <a16:creationId xmlns:a16="http://schemas.microsoft.com/office/drawing/2014/main" id="{9893F0C5-64C4-33F5-E222-9437A57FFD72}"/>
                </a:ext>
              </a:extLst>
            </p:cNvPr>
            <p:cNvSpPr txBox="1"/>
            <p:nvPr/>
          </p:nvSpPr>
          <p:spPr>
            <a:xfrm>
              <a:off x="5170410" y="735951"/>
              <a:ext cx="2474994" cy="5266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900"/>
                </a:spcBef>
              </a:pPr>
              <a:r>
                <a:rPr lang="en-US" sz="2100" b="1" dirty="0">
                  <a:latin typeface="Georgia" panose="02040502050405020303" pitchFamily="18" charset="0"/>
                </a:rPr>
                <a:t>3 variables removed </a:t>
              </a:r>
              <a:endParaRPr lang="en-US" sz="2100" b="1" dirty="0">
                <a:latin typeface="Georgia Pro Light" panose="02040302050405020303" pitchFamily="18" charset="0"/>
              </a:endParaRPr>
            </a:p>
            <a:p>
              <a:pPr>
                <a:spcBef>
                  <a:spcPts val="900"/>
                </a:spcBef>
              </a:pPr>
              <a:r>
                <a:rPr lang="en-US" sz="2100" dirty="0">
                  <a:latin typeface="Georgia" panose="02040502050405020303" pitchFamily="18" charset="0"/>
                </a:rPr>
                <a:t>Too many “nones”.</a:t>
              </a:r>
              <a:endParaRPr lang="en-US" sz="2100" dirty="0">
                <a:latin typeface="Georgia Pro Light" panose="02040302050405020303" pitchFamily="18" charset="0"/>
              </a:endParaRPr>
            </a:p>
          </p:txBody>
        </p:sp>
        <p:sp>
          <p:nvSpPr>
            <p:cNvPr id="23" name="TextBox 20">
              <a:extLst>
                <a:ext uri="{FF2B5EF4-FFF2-40B4-BE49-F238E27FC236}">
                  <a16:creationId xmlns:a16="http://schemas.microsoft.com/office/drawing/2014/main" id="{44B1E666-82DE-D6FE-658C-316C783376B3}"/>
                </a:ext>
              </a:extLst>
            </p:cNvPr>
            <p:cNvSpPr txBox="1"/>
            <p:nvPr/>
          </p:nvSpPr>
          <p:spPr>
            <a:xfrm>
              <a:off x="9703556" y="1909864"/>
              <a:ext cx="2474994" cy="7500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900"/>
                </a:spcBef>
              </a:pPr>
              <a:r>
                <a:rPr lang="en-US" sz="2100" b="1" dirty="0">
                  <a:latin typeface="Georgia" panose="02040502050405020303" pitchFamily="18" charset="0"/>
                </a:rPr>
                <a:t>Types of graphs</a:t>
              </a:r>
            </a:p>
            <a:p>
              <a:pPr>
                <a:spcBef>
                  <a:spcPts val="900"/>
                </a:spcBef>
              </a:pPr>
              <a:r>
                <a:rPr lang="en-US" sz="2100" dirty="0">
                  <a:latin typeface="Georgia" panose="02040502050405020303" pitchFamily="18" charset="0"/>
                </a:rPr>
                <a:t>Mostly histograms due to nature of data.</a:t>
              </a:r>
            </a:p>
          </p:txBody>
        </p:sp>
        <p:sp>
          <p:nvSpPr>
            <p:cNvPr id="24" name="TextBox 21">
              <a:extLst>
                <a:ext uri="{FF2B5EF4-FFF2-40B4-BE49-F238E27FC236}">
                  <a16:creationId xmlns:a16="http://schemas.microsoft.com/office/drawing/2014/main" id="{6711737B-3CA3-4EFF-959D-1B5F13F1B93C}"/>
                </a:ext>
              </a:extLst>
            </p:cNvPr>
            <p:cNvSpPr txBox="1"/>
            <p:nvPr/>
          </p:nvSpPr>
          <p:spPr>
            <a:xfrm>
              <a:off x="7184597" y="4624642"/>
              <a:ext cx="2474994" cy="8139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900"/>
                </a:spcBef>
              </a:pPr>
              <a:r>
                <a:rPr lang="en-US" sz="2100" b="1" dirty="0">
                  <a:latin typeface="Georgia" panose="02040502050405020303" pitchFamily="18" charset="0"/>
                </a:rPr>
                <a:t>Province repartition</a:t>
              </a:r>
            </a:p>
            <a:p>
              <a:pPr algn="just">
                <a:spcBef>
                  <a:spcPts val="900"/>
                </a:spcBef>
              </a:pPr>
              <a:r>
                <a:rPr lang="en-US" sz="1600" dirty="0">
                  <a:latin typeface="Georgia" panose="02040502050405020303" pitchFamily="18" charset="0"/>
                </a:rPr>
                <a:t>Each team member analyzed data for 2 or 3 provinces. Visuals could be made for the </a:t>
              </a:r>
              <a:r>
                <a:rPr lang="en-US" sz="1600" dirty="0" err="1">
                  <a:latin typeface="Georgia" panose="02040502050405020303" pitchFamily="18" charset="0"/>
                </a:rPr>
                <a:t>subchoice</a:t>
              </a:r>
              <a:r>
                <a:rPr lang="en-US" sz="1600" dirty="0">
                  <a:latin typeface="Georgia" panose="02040502050405020303" pitchFamily="18" charset="0"/>
                </a:rPr>
                <a:t> or the entire dataset.</a:t>
              </a:r>
            </a:p>
          </p:txBody>
        </p:sp>
        <p:sp>
          <p:nvSpPr>
            <p:cNvPr id="25" name="TextBox 22">
              <a:extLst>
                <a:ext uri="{FF2B5EF4-FFF2-40B4-BE49-F238E27FC236}">
                  <a16:creationId xmlns:a16="http://schemas.microsoft.com/office/drawing/2014/main" id="{BED7EF09-DBD4-7B7C-EC7A-5684FB93DD7E}"/>
                </a:ext>
              </a:extLst>
            </p:cNvPr>
            <p:cNvSpPr txBox="1"/>
            <p:nvPr/>
          </p:nvSpPr>
          <p:spPr>
            <a:xfrm>
              <a:off x="10871495" y="3228776"/>
              <a:ext cx="1323715" cy="404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Georgia Pro Light" panose="02040302050405020303" pitchFamily="18" charset="0"/>
                </a:rPr>
                <a:t>OUTPUT</a:t>
              </a:r>
              <a:endParaRPr lang="en-US" sz="3200" b="1" dirty="0"/>
            </a:p>
          </p:txBody>
        </p:sp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49AA2ABA-C14A-73B9-1018-D688B557657E}"/>
                </a:ext>
              </a:extLst>
            </p:cNvPr>
            <p:cNvSpPr txBox="1"/>
            <p:nvPr/>
          </p:nvSpPr>
          <p:spPr>
            <a:xfrm>
              <a:off x="3430796" y="3199515"/>
              <a:ext cx="797510" cy="40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Data cleaning</a:t>
              </a:r>
            </a:p>
          </p:txBody>
        </p:sp>
        <p:sp>
          <p:nvSpPr>
            <p:cNvPr id="27" name="TextBox 24">
              <a:extLst>
                <a:ext uri="{FF2B5EF4-FFF2-40B4-BE49-F238E27FC236}">
                  <a16:creationId xmlns:a16="http://schemas.microsoft.com/office/drawing/2014/main" id="{B5981A46-E893-544C-CF2D-6892F72264B7}"/>
                </a:ext>
              </a:extLst>
            </p:cNvPr>
            <p:cNvSpPr txBox="1"/>
            <p:nvPr/>
          </p:nvSpPr>
          <p:spPr>
            <a:xfrm>
              <a:off x="5946328" y="3192416"/>
              <a:ext cx="766177" cy="40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Data</a:t>
              </a:r>
              <a:r>
                <a:rPr lang="en-US" sz="10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 </a:t>
              </a:r>
              <a:r>
                <a:rPr lang="en-US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analysis</a:t>
              </a:r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4276FE0B-15B8-4B6E-5B9E-49F5DDFCA4BA}"/>
                </a:ext>
              </a:extLst>
            </p:cNvPr>
            <p:cNvSpPr txBox="1"/>
            <p:nvPr/>
          </p:nvSpPr>
          <p:spPr>
            <a:xfrm>
              <a:off x="8489706" y="3334160"/>
              <a:ext cx="662146" cy="234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Visuals</a:t>
              </a:r>
            </a:p>
          </p:txBody>
        </p:sp>
      </p:grpSp>
      <p:sp>
        <p:nvSpPr>
          <p:cNvPr id="36" name="TextBox 29">
            <a:extLst>
              <a:ext uri="{FF2B5EF4-FFF2-40B4-BE49-F238E27FC236}">
                <a16:creationId xmlns:a16="http://schemas.microsoft.com/office/drawing/2014/main" id="{A5F1244E-6106-DAB4-249C-8652A98D0E11}"/>
              </a:ext>
            </a:extLst>
          </p:cNvPr>
          <p:cNvSpPr txBox="1"/>
          <p:nvPr/>
        </p:nvSpPr>
        <p:spPr>
          <a:xfrm>
            <a:off x="461830" y="4086828"/>
            <a:ext cx="2606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00" b="1" dirty="0">
                <a:latin typeface="Georgia" panose="02040502050405020303" pitchFamily="18" charset="0"/>
              </a:rPr>
              <a:t>15 columns, </a:t>
            </a:r>
          </a:p>
          <a:p>
            <a:pPr algn="ctr"/>
            <a:r>
              <a:rPr lang="en-GB" sz="2100" b="1" dirty="0">
                <a:latin typeface="Georgia" panose="02040502050405020303" pitchFamily="18" charset="0"/>
              </a:rPr>
              <a:t>3 removed</a:t>
            </a:r>
            <a:endParaRPr lang="en-US" sz="2100" b="1" dirty="0">
              <a:latin typeface="Georgia" panose="02040502050405020303" pitchFamily="18" charset="0"/>
            </a:endParaRP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91E8F800-AD9A-1F0A-8DE9-7A0047AA7DFA}"/>
              </a:ext>
            </a:extLst>
          </p:cNvPr>
          <p:cNvSpPr txBox="1"/>
          <p:nvPr/>
        </p:nvSpPr>
        <p:spPr>
          <a:xfrm>
            <a:off x="407374" y="7498425"/>
            <a:ext cx="26061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00" b="1" dirty="0">
                <a:latin typeface="Georgia" panose="02040502050405020303" pitchFamily="18" charset="0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246998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661D-3C1E-F25E-7D52-544CCEF9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B21FB5-9271-2AAB-60AF-F212F03570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6D8183-6B6F-3366-0EF4-C934DDD311DC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18069AD-C5CE-8CD7-42F9-EE6D8A3EDF89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7" name="Afbeelding 6" descr="Afbeelding met tekst, schermopname, diagram, Perceel&#10;&#10;Door AI gegenereerde inhoud is mogelijk onjuist.">
            <a:extLst>
              <a:ext uri="{FF2B5EF4-FFF2-40B4-BE49-F238E27FC236}">
                <a16:creationId xmlns:a16="http://schemas.microsoft.com/office/drawing/2014/main" id="{24AAE7A7-8F14-4942-F445-19DDAB27B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7" y="2769591"/>
            <a:ext cx="9127958" cy="5394971"/>
          </a:xfrm>
          <a:prstGeom prst="rect">
            <a:avLst/>
          </a:prstGeom>
        </p:spPr>
      </p:pic>
      <p:pic>
        <p:nvPicPr>
          <p:cNvPr id="10" name="Afbeelding 9" descr="Afbeelding met tekst, schermopname, diagram, Perceel&#10;&#10;Door AI gegenereerde inhoud is mogelijk onjuist.">
            <a:extLst>
              <a:ext uri="{FF2B5EF4-FFF2-40B4-BE49-F238E27FC236}">
                <a16:creationId xmlns:a16="http://schemas.microsoft.com/office/drawing/2014/main" id="{908E66F0-1557-604C-E118-9B36A5035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24" y="2769591"/>
            <a:ext cx="8807116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5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4597-B5AC-4572-A694-EB6BA808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CAC83B-7981-B3B7-69DC-6554B52A4D9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C84766-79FA-C9F2-3786-0B858CB39AAA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8CF7353-BFEF-C178-53F2-3903FF67AC87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7" name="Afbeelding 6" descr="Afbeelding met tekst, diagram, schermopname, Perceel&#10;&#10;Door AI gegenereerde inhoud is mogelijk onjuist.">
            <a:extLst>
              <a:ext uri="{FF2B5EF4-FFF2-40B4-BE49-F238E27FC236}">
                <a16:creationId xmlns:a16="http://schemas.microsoft.com/office/drawing/2014/main" id="{816E2259-99A0-C2AD-8FFB-3AD5ADF58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939" y="2820004"/>
            <a:ext cx="11113743" cy="701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8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C62E-1C7C-D608-7806-582BDBCD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BCE6C4-69A1-5B9F-797B-9091DF25027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823269-B01B-0A7A-E7D1-BA6E91D15C4A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A9C728-A160-1A55-D5F0-C86AF1BD2123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3" name="Picture 2" descr="A graph of a bar chart&#10;&#10;AI-generated content may be incorrect.">
            <a:extLst>
              <a:ext uri="{FF2B5EF4-FFF2-40B4-BE49-F238E27FC236}">
                <a16:creationId xmlns:a16="http://schemas.microsoft.com/office/drawing/2014/main" id="{83CB7B52-D8C2-9DFC-873A-3526D9B93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55" y="2769770"/>
            <a:ext cx="13711489" cy="695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8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5011-2501-ED3F-6444-C3120FCA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819CA0-1E29-02FA-9DE5-9B6B64C566F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BB013E-2949-055E-921B-D28BDC5F763E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1F6B432-B8DA-CA60-E603-98BE10213362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6" name="Afbeelding 5" descr="Afbeelding met tekst, schermopname, lijn, Perceel&#10;&#10;Door AI gegenereerde inhoud is mogelijk onjuist.">
            <a:extLst>
              <a:ext uri="{FF2B5EF4-FFF2-40B4-BE49-F238E27FC236}">
                <a16:creationId xmlns:a16="http://schemas.microsoft.com/office/drawing/2014/main" id="{9109F50F-26EE-494D-D013-512A346CA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251" y="3013642"/>
            <a:ext cx="12365497" cy="61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24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DE70-960F-363E-49B4-75B6325C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2F0BDB-E132-19BA-4C1A-CA1DC2C6244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0DEC40-A9EB-1D14-BEE7-CD1E2D519554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132BAEB-2DFC-CD24-0AB7-BEE221C0508B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5C57EC3-C2EE-1020-C9D2-210596CD5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2776"/>
            <a:ext cx="1745608" cy="1745608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10501B68-1813-4720-F82F-C5846CE87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238500"/>
            <a:ext cx="12701041" cy="63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0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2FA4-253D-7D65-2C7F-5707CC3B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3112D6-6F0C-E55E-5E7D-80EA52C1B45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DEF4DAF-41C2-1F70-23B5-0F14FDE65684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219D8AB-D370-0DC8-164C-CEE3217FCB5D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554F0DE-C419-60B8-1EBD-33C84D73A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290" y="2842398"/>
            <a:ext cx="12701041" cy="63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31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65D0-936C-08D8-92C0-A1F14440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525653-51E0-BAB0-F4F2-968C5677736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CD59C24-2400-C897-E892-30312110866E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FA27979-4B15-88F4-D099-9CDC1E26872F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6E1EE341-C990-B695-C719-9511A7453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988" y="2868947"/>
            <a:ext cx="9824023" cy="635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8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C3ABB-F6C3-5D83-36E7-8DEE08E4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F83909-1E60-E364-C0B4-307C9AC85E3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49CB35-57AD-6A17-DF2E-9FF6CAC9A999}"/>
              </a:ext>
            </a:extLst>
          </p:cNvPr>
          <p:cNvSpPr txBox="1"/>
          <p:nvPr/>
        </p:nvSpPr>
        <p:spPr>
          <a:xfrm>
            <a:off x="4638682" y="1791504"/>
            <a:ext cx="901063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69CCCF2-88EE-DCD1-0362-5241F06A2FBC}"/>
              </a:ext>
            </a:extLst>
          </p:cNvPr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</a:p>
        </p:txBody>
      </p:sp>
      <p:pic>
        <p:nvPicPr>
          <p:cNvPr id="8" name="Afbeelding 7" descr="Afbeelding met tekst, schermopname, scherm, nummer&#10;&#10;Door AI gegenereerde inhoud is mogelijk onjuist.">
            <a:extLst>
              <a:ext uri="{FF2B5EF4-FFF2-40B4-BE49-F238E27FC236}">
                <a16:creationId xmlns:a16="http://schemas.microsoft.com/office/drawing/2014/main" id="{20BB047C-7595-01D3-969E-68130B211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773279"/>
            <a:ext cx="7965650" cy="5959037"/>
          </a:xfrm>
          <a:prstGeom prst="rect">
            <a:avLst/>
          </a:prstGeom>
        </p:spPr>
      </p:pic>
      <p:pic>
        <p:nvPicPr>
          <p:cNvPr id="7" name="Afbeelding 6" descr="Afbeelding met tekst, schermopname, diagram, Perceel&#10;&#10;Door AI gegenereerde inhoud is mogelijk onjuist.">
            <a:extLst>
              <a:ext uri="{FF2B5EF4-FFF2-40B4-BE49-F238E27FC236}">
                <a16:creationId xmlns:a16="http://schemas.microsoft.com/office/drawing/2014/main" id="{8A971399-1EFE-AE01-8DED-BED5032C2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997" y="2628900"/>
            <a:ext cx="9449740" cy="62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0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5" name="TextBox 5"/>
          <p:cNvSpPr txBox="1"/>
          <p:nvPr/>
        </p:nvSpPr>
        <p:spPr>
          <a:xfrm>
            <a:off x="5676618" y="1791504"/>
            <a:ext cx="6756386" cy="9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MEET OUR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92111" y="7810500"/>
            <a:ext cx="12725400" cy="369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Welederufeal</a:t>
            </a:r>
            <a:r>
              <a:rPr lang="en-US" sz="20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Tadege</a:t>
            </a:r>
            <a:r>
              <a:rPr lang="en-US" sz="20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, Hamideh </a:t>
            </a:r>
            <a:r>
              <a:rPr lang="en-US" sz="2000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Baggali</a:t>
            </a:r>
            <a:r>
              <a:rPr lang="en-US" sz="20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, Intan K. </a:t>
            </a:r>
            <a:r>
              <a:rPr lang="en-US" sz="2000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Wardhani</a:t>
            </a:r>
            <a:r>
              <a:rPr lang="en-US" sz="20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, Sandrine Herbelet</a:t>
            </a:r>
          </a:p>
        </p:txBody>
      </p:sp>
      <p:pic>
        <p:nvPicPr>
          <p:cNvPr id="4" name="Afbeelding 3" descr="Afbeelding met kleding, persoon, Menselijk gezicht, glimlach&#10;&#10;Door AI gegenereerde inhoud is mogelijk onjuist.">
            <a:extLst>
              <a:ext uri="{FF2B5EF4-FFF2-40B4-BE49-F238E27FC236}">
                <a16:creationId xmlns:a16="http://schemas.microsoft.com/office/drawing/2014/main" id="{D12C6DBB-DF7F-31CC-0F83-96BE7CBDCB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411" y="2809175"/>
            <a:ext cx="614680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nl-B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nl-B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33297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16825" y="6705600"/>
            <a:ext cx="3054350" cy="761278"/>
            <a:chOff x="0" y="0"/>
            <a:chExt cx="804438" cy="2005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4438" cy="200501"/>
            </a:xfrm>
            <a:custGeom>
              <a:avLst/>
              <a:gdLst/>
              <a:ahLst/>
              <a:cxnLst/>
              <a:rect l="l" t="t" r="r" b="b"/>
              <a:pathLst>
                <a:path w="804438" h="200501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nl-B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347826" y="6846823"/>
            <a:ext cx="3592349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933297" y="8495976"/>
            <a:ext cx="762324" cy="762324"/>
          </a:xfrm>
          <a:custGeom>
            <a:avLst/>
            <a:gdLst/>
            <a:ahLst/>
            <a:cxnLst/>
            <a:rect l="l" t="t" r="r" b="b"/>
            <a:pathLst>
              <a:path w="762324" h="762324">
                <a:moveTo>
                  <a:pt x="0" y="0"/>
                </a:moveTo>
                <a:lnTo>
                  <a:pt x="762324" y="0"/>
                </a:lnTo>
                <a:lnTo>
                  <a:pt x="762324" y="762324"/>
                </a:lnTo>
                <a:lnTo>
                  <a:pt x="0" y="762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BE"/>
          </a:p>
        </p:txBody>
      </p:sp>
      <p:sp>
        <p:nvSpPr>
          <p:cNvPr id="14" name="TextBox 14"/>
          <p:cNvSpPr txBox="1"/>
          <p:nvPr/>
        </p:nvSpPr>
        <p:spPr>
          <a:xfrm>
            <a:off x="5943600" y="8116664"/>
            <a:ext cx="8305324" cy="1418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linkedin.com/in/sandrineherbelet/"/>
              </a:rPr>
              <a:t>https://www.linkedin.com/in/sandrineherbelet/</a:t>
            </a:r>
          </a:p>
          <a:p>
            <a:pPr>
              <a:lnSpc>
                <a:spcPts val="3780"/>
              </a:lnSpc>
            </a:pPr>
            <a:r>
              <a:rPr lang="en-US" sz="27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linkedin.com/in/sandrineherbelet/"/>
              </a:rPr>
              <a:t>https://www.linkedin.com/in/welederufeal-t-027907a5/</a:t>
            </a:r>
          </a:p>
          <a:p>
            <a:pPr>
              <a:lnSpc>
                <a:spcPts val="3780"/>
              </a:lnSpc>
            </a:pPr>
            <a:r>
              <a:rPr lang="en-US" sz="27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linkedin.com/in/sandrineherbelet/"/>
              </a:rPr>
              <a:t>https://www.linkedin.com/in/hamideh-be/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A581C14D73864680008DCE5C151E91" ma:contentTypeVersion="16" ma:contentTypeDescription="Create a new document." ma:contentTypeScope="" ma:versionID="4508d8ab9515b6a1b93a354ee630b520">
  <xsd:schema xmlns:xsd="http://www.w3.org/2001/XMLSchema" xmlns:xs="http://www.w3.org/2001/XMLSchema" xmlns:p="http://schemas.microsoft.com/office/2006/metadata/properties" xmlns:ns2="aeb18f5c-1802-4d31-888f-9ca312e429d9" xmlns:ns3="cea4088b-a873-4475-8dea-cd26ce0ea0a6" targetNamespace="http://schemas.microsoft.com/office/2006/metadata/properties" ma:root="true" ma:fieldsID="aed514beab8362f84fdb841f777365b5" ns2:_="" ns3:_="">
    <xsd:import namespace="aeb18f5c-1802-4d31-888f-9ca312e429d9"/>
    <xsd:import namespace="cea4088b-a873-4475-8dea-cd26ce0ea0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b18f5c-1802-4d31-888f-9ca312e429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4945156-a117-4cf2-8887-2be1cf3adb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a4088b-a873-4475-8dea-cd26ce0ea0a6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ad5777a7-55dd-47e4-a2a4-faf0c4e8d4e8}" ma:internalName="TaxCatchAll" ma:showField="CatchAllData" ma:web="cea4088b-a873-4475-8dea-cd26ce0ea0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b18f5c-1802-4d31-888f-9ca312e429d9">
      <Terms xmlns="http://schemas.microsoft.com/office/infopath/2007/PartnerControls"/>
    </lcf76f155ced4ddcb4097134ff3c332f>
    <TaxCatchAll xmlns="cea4088b-a873-4475-8dea-cd26ce0ea0a6" xsi:nil="true"/>
  </documentManagement>
</p:properties>
</file>

<file path=customXml/itemProps1.xml><?xml version="1.0" encoding="utf-8"?>
<ds:datastoreItem xmlns:ds="http://schemas.openxmlformats.org/officeDocument/2006/customXml" ds:itemID="{F145792B-8A41-49CA-BD5A-53B788B24BAD}"/>
</file>

<file path=customXml/itemProps2.xml><?xml version="1.0" encoding="utf-8"?>
<ds:datastoreItem xmlns:ds="http://schemas.openxmlformats.org/officeDocument/2006/customXml" ds:itemID="{2A133B32-05E7-469E-9865-BE2C86F78B5B}"/>
</file>

<file path=customXml/itemProps3.xml><?xml version="1.0" encoding="utf-8"?>
<ds:datastoreItem xmlns:ds="http://schemas.openxmlformats.org/officeDocument/2006/customXml" ds:itemID="{076CB569-483D-4F5E-AA11-15954606D274}"/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147</Words>
  <Application>Microsoft Office PowerPoint</Application>
  <PresentationFormat>Aangepast</PresentationFormat>
  <Paragraphs>46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23" baseType="lpstr">
      <vt:lpstr>Georgia</vt:lpstr>
      <vt:lpstr>Arial</vt:lpstr>
      <vt:lpstr>Poppins</vt:lpstr>
      <vt:lpstr>League Spartan</vt:lpstr>
      <vt:lpstr>Roboto Bold</vt:lpstr>
      <vt:lpstr>Arimo</vt:lpstr>
      <vt:lpstr>Georgia Pro Light</vt:lpstr>
      <vt:lpstr>Roboto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 ELIZA PROJECT</dc:title>
  <cp:lastModifiedBy>Sandrine Herbelet</cp:lastModifiedBy>
  <cp:revision>23</cp:revision>
  <dcterms:created xsi:type="dcterms:W3CDTF">2006-08-16T00:00:00Z</dcterms:created>
  <dcterms:modified xsi:type="dcterms:W3CDTF">2025-11-18T14:16:49Z</dcterms:modified>
  <dc:identifier>DAG36q-AAN0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0x01010083A581C14D73864680008DCE5C151E91</vt:lpwstr>
  </property>
</Properties>
</file>